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Graphik Semibold"/>
          <a:ea typeface="Graphik Semibold"/>
          <a:cs typeface="Graphik S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Graphik Semibold"/>
          <a:ea typeface="Graphik Semibold"/>
          <a:cs typeface="Graphik S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Graphik Semibold"/>
          <a:ea typeface="Graphik Semibold"/>
          <a:cs typeface="Graphik S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19200" y="11986162"/>
            <a:ext cx="21945599" cy="605791"/>
          </a:xfrm>
          <a:prstGeom prst="rect">
            <a:avLst/>
          </a:prstGeom>
        </p:spPr>
        <p:txBody>
          <a:bodyPr/>
          <a:lstStyle>
            <a:lvl1pPr marL="0" indent="0" algn="ctr" defTabSz="586104">
              <a:lnSpc>
                <a:spcPct val="100000"/>
              </a:lnSpc>
              <a:spcBef>
                <a:spcPts val="0"/>
              </a:spcBef>
              <a:buSzTx/>
              <a:buNone/>
              <a:defRPr spc="-26" sz="2698">
                <a:latin typeface="Canela Regular"/>
                <a:ea typeface="Canela Regular"/>
                <a:cs typeface="Canela Regular"/>
                <a:sym typeface="Canela Regular"/>
              </a:defRPr>
            </a:lvl1pPr>
          </a:lstStyle>
          <a:p>
            <a:pPr/>
            <a:r>
              <a:t>Author and Date</a:t>
            </a:r>
          </a:p>
        </p:txBody>
      </p:sp>
      <p:sp>
        <p:nvSpPr>
          <p:cNvPr id="12" name="Presentation Title"/>
          <p:cNvSpPr txBox="1"/>
          <p:nvPr>
            <p:ph type="title" hasCustomPrompt="1"/>
          </p:nvPr>
        </p:nvSpPr>
        <p:spPr>
          <a:xfrm>
            <a:off x="1219200" y="3543300"/>
            <a:ext cx="21945600" cy="4267200"/>
          </a:xfrm>
          <a:prstGeom prst="rect">
            <a:avLst/>
          </a:prstGeom>
        </p:spPr>
        <p:txBody>
          <a:bodyPr anchor="b"/>
          <a:lstStyle>
            <a:lvl1pPr>
              <a:defRPr b="1" spc="-70" sz="7000">
                <a:latin typeface="+mj-lt"/>
                <a:ea typeface="+mj-ea"/>
                <a:cs typeface="+mj-cs"/>
                <a:sym typeface="Helvetica Neue"/>
              </a:defRPr>
            </a:lvl1pPr>
          </a:lstStyle>
          <a:p>
            <a:pPr/>
            <a:r>
              <a:t>Presentation Title</a:t>
            </a:r>
          </a:p>
        </p:txBody>
      </p:sp>
      <p:sp>
        <p:nvSpPr>
          <p:cNvPr id="13" name="Body Level One…"/>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44" sz="4400">
                <a:latin typeface="+mn-lt"/>
                <a:ea typeface="+mn-ea"/>
                <a:cs typeface="+mn-cs"/>
                <a:sym typeface="Canela Bold"/>
              </a:defRPr>
            </a:lvl1pPr>
            <a:lvl2pPr marL="0" indent="457200" algn="ctr" defTabSz="825500">
              <a:lnSpc>
                <a:spcPct val="100000"/>
              </a:lnSpc>
              <a:spcBef>
                <a:spcPts val="0"/>
              </a:spcBef>
              <a:buSzTx/>
              <a:buNone/>
              <a:defRPr spc="-44" sz="4400">
                <a:latin typeface="+mn-lt"/>
                <a:ea typeface="+mn-ea"/>
                <a:cs typeface="+mn-cs"/>
                <a:sym typeface="Canela Bold"/>
              </a:defRPr>
            </a:lvl2pPr>
            <a:lvl3pPr marL="0" indent="914400" algn="ctr" defTabSz="825500">
              <a:lnSpc>
                <a:spcPct val="100000"/>
              </a:lnSpc>
              <a:spcBef>
                <a:spcPts val="0"/>
              </a:spcBef>
              <a:buSzTx/>
              <a:buNone/>
              <a:defRPr spc="-44" sz="4400">
                <a:latin typeface="+mn-lt"/>
                <a:ea typeface="+mn-ea"/>
                <a:cs typeface="+mn-cs"/>
                <a:sym typeface="Canela Bold"/>
              </a:defRPr>
            </a:lvl3pPr>
            <a:lvl4pPr marL="0" indent="1371600" algn="ctr" defTabSz="825500">
              <a:lnSpc>
                <a:spcPct val="100000"/>
              </a:lnSpc>
              <a:spcBef>
                <a:spcPts val="0"/>
              </a:spcBef>
              <a:buSzTx/>
              <a:buNone/>
              <a:defRPr spc="-44" sz="4400">
                <a:latin typeface="+mn-lt"/>
                <a:ea typeface="+mn-ea"/>
                <a:cs typeface="+mn-cs"/>
                <a:sym typeface="Canela Bold"/>
              </a:defRPr>
            </a:lvl4pPr>
            <a:lvl5pPr marL="0" indent="1828800" algn="ctr" defTabSz="825500">
              <a:lnSpc>
                <a:spcPct val="100000"/>
              </a:lnSpc>
              <a:spcBef>
                <a:spcPts val="0"/>
              </a:spcBef>
              <a:buSzTx/>
              <a:buNone/>
              <a:defRPr spc="-44" sz="4400">
                <a:latin typeface="+mn-lt"/>
                <a:ea typeface="+mn-ea"/>
                <a:cs typeface="+mn-cs"/>
                <a:sym typeface="Canela Bold"/>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Beach and sea at sunset"/>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Presentation Title</a:t>
            </a:r>
          </a:p>
        </p:txBody>
      </p:sp>
      <p:sp>
        <p:nvSpPr>
          <p:cNvPr id="23" name="Body Level One…"/>
          <p:cNvSpPr txBox="1"/>
          <p:nvPr>
            <p:ph type="body" sz="quarter" idx="1" hasCustomPrompt="1"/>
          </p:nvPr>
        </p:nvSpPr>
        <p:spPr>
          <a:xfrm>
            <a:off x="1219200" y="7569200"/>
            <a:ext cx="21945600" cy="2252112"/>
          </a:xfrm>
          <a:prstGeom prst="rect">
            <a:avLst/>
          </a:prstGeom>
        </p:spPr>
        <p:txBody>
          <a:bodyPr/>
          <a:lstStyle>
            <a:lvl1pPr marL="0" indent="0" algn="ctr" defTabSz="2438400">
              <a:lnSpc>
                <a:spcPct val="80000"/>
              </a:lnSpc>
              <a:spcBef>
                <a:spcPts val="0"/>
              </a:spcBef>
              <a:buSzTx/>
              <a:buNone/>
              <a:defRPr b="1" spc="-70" sz="7000">
                <a:latin typeface="+mj-lt"/>
                <a:ea typeface="+mj-ea"/>
                <a:cs typeface="+mj-cs"/>
                <a:sym typeface="Helvetica Neue"/>
              </a:defRPr>
            </a:lvl1pPr>
            <a:lvl2pPr marL="0" indent="457200" algn="ctr" defTabSz="2438400">
              <a:lnSpc>
                <a:spcPct val="80000"/>
              </a:lnSpc>
              <a:spcBef>
                <a:spcPts val="0"/>
              </a:spcBef>
              <a:buSzTx/>
              <a:buNone/>
              <a:defRPr b="1" spc="-70" sz="7000">
                <a:latin typeface="+mj-lt"/>
                <a:ea typeface="+mj-ea"/>
                <a:cs typeface="+mj-cs"/>
                <a:sym typeface="Helvetica Neue"/>
              </a:defRPr>
            </a:lvl2pPr>
            <a:lvl3pPr marL="0" indent="914400" algn="ctr" defTabSz="2438400">
              <a:lnSpc>
                <a:spcPct val="80000"/>
              </a:lnSpc>
              <a:spcBef>
                <a:spcPts val="0"/>
              </a:spcBef>
              <a:buSzTx/>
              <a:buNone/>
              <a:defRPr b="1" spc="-70" sz="7000">
                <a:latin typeface="+mj-lt"/>
                <a:ea typeface="+mj-ea"/>
                <a:cs typeface="+mj-cs"/>
                <a:sym typeface="Helvetica Neue"/>
              </a:defRPr>
            </a:lvl3pPr>
            <a:lvl4pPr marL="0" indent="1371600" algn="ctr" defTabSz="2438400">
              <a:lnSpc>
                <a:spcPct val="80000"/>
              </a:lnSpc>
              <a:spcBef>
                <a:spcPts val="0"/>
              </a:spcBef>
              <a:buSzTx/>
              <a:buNone/>
              <a:defRPr b="1" spc="-70" sz="7000">
                <a:latin typeface="+mj-lt"/>
                <a:ea typeface="+mj-ea"/>
                <a:cs typeface="+mj-cs"/>
                <a:sym typeface="Helvetica Neue"/>
              </a:defRPr>
            </a:lvl4pPr>
            <a:lvl5pPr marL="0" indent="1828800" algn="ctr" defTabSz="2438400">
              <a:lnSpc>
                <a:spcPct val="80000"/>
              </a:lnSpc>
              <a:spcBef>
                <a:spcPts val="0"/>
              </a:spcBef>
              <a:buSzTx/>
              <a:buNone/>
              <a:defRPr b="1" spc="-70" sz="7000">
                <a:latin typeface="+mj-lt"/>
                <a:ea typeface="+mj-ea"/>
                <a:cs typeface="+mj-cs"/>
                <a:sym typeface="Helvetica Neue"/>
              </a:defRPr>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pc="-29" sz="3000">
                <a:solidFill>
                  <a:srgbClr val="FFFFFF"/>
                </a:solidFill>
                <a:latin typeface="Graphik Medium"/>
                <a:ea typeface="Graphik Medium"/>
                <a:cs typeface="Graphik Medium"/>
                <a:sym typeface="Graphik Medium"/>
              </a:defRPr>
            </a:lvl1pPr>
          </a:lstStyle>
          <a:p>
            <a:pPr/>
            <a:r>
              <a:t>Author and Date</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15495" y="4585102"/>
            <a:ext cx="9757338" cy="2540001"/>
          </a:xfrm>
          <a:prstGeom prst="rect">
            <a:avLst/>
          </a:prstGeom>
        </p:spPr>
        <p:txBody>
          <a:bodyPr anchor="b"/>
          <a:lstStyle/>
          <a:p>
            <a:pPr/>
            <a:r>
              <a:t>Slide Title</a:t>
            </a:r>
          </a:p>
        </p:txBody>
      </p:sp>
      <p:sp>
        <p:nvSpPr>
          <p:cNvPr id="33" name="Sea against sky at sunset"/>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Body Level One…"/>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vl2pPr marL="0" indent="457200" algn="ctr" defTabSz="825500">
              <a:lnSpc>
                <a:spcPct val="100000"/>
              </a:lnSpc>
              <a:spcBef>
                <a:spcPts val="0"/>
              </a:spcBef>
              <a:buSzTx/>
              <a:buNone/>
              <a:defRPr spc="-44" sz="4400">
                <a:latin typeface="Graphik Semibold"/>
                <a:ea typeface="Graphik Semibold"/>
                <a:cs typeface="Graphik Semibold"/>
                <a:sym typeface="Graphik Semibold"/>
              </a:defRPr>
            </a:lvl2pPr>
            <a:lvl3pPr marL="0" indent="914400" algn="ctr" defTabSz="825500">
              <a:lnSpc>
                <a:spcPct val="100000"/>
              </a:lnSpc>
              <a:spcBef>
                <a:spcPts val="0"/>
              </a:spcBef>
              <a:buSzTx/>
              <a:buNone/>
              <a:defRPr spc="-44" sz="4400">
                <a:latin typeface="Graphik Semibold"/>
                <a:ea typeface="Graphik Semibold"/>
                <a:cs typeface="Graphik Semibold"/>
                <a:sym typeface="Graphik Semibold"/>
              </a:defRPr>
            </a:lvl3pPr>
            <a:lvl4pPr marL="0" indent="1371600" algn="ctr" defTabSz="825500">
              <a:lnSpc>
                <a:spcPct val="100000"/>
              </a:lnSpc>
              <a:spcBef>
                <a:spcPts val="0"/>
              </a:spcBef>
              <a:buSzTx/>
              <a:buNone/>
              <a:defRPr spc="-44" sz="4400">
                <a:latin typeface="Graphik Semibold"/>
                <a:ea typeface="Graphik Semibold"/>
                <a:cs typeface="Graphik Semibold"/>
                <a:sym typeface="Graphik Semibold"/>
              </a:defRPr>
            </a:lvl4pPr>
            <a:lvl5pPr marL="0" indent="1828800" algn="ctr" defTabSz="825500">
              <a:lnSpc>
                <a:spcPct val="100000"/>
              </a:lnSpc>
              <a:spcBef>
                <a:spcPts val="0"/>
              </a:spcBef>
              <a:buSzTx/>
              <a:buNone/>
              <a:defRPr spc="-44" sz="4400">
                <a:latin typeface="Graphik Semibold"/>
                <a:ea typeface="Graphik Semibold"/>
                <a:cs typeface="Graphik Semibold"/>
                <a:sym typeface="Graphik Semibold"/>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4"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Slide Subtitle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xfrm>
            <a:off x="1219200" y="4013200"/>
            <a:ext cx="21945600" cy="8487148"/>
          </a:xfrm>
          <a:prstGeom prst="rect">
            <a:avLst/>
          </a:prstGeom>
        </p:spPr>
        <p:txBody>
          <a:bodyPr numCol="2" spcCol="2558384"/>
          <a:lstStyle/>
          <a:p>
            <a:pPr/>
            <a:r>
              <a:t>Slide bullet text</a:t>
            </a:r>
          </a:p>
          <a:p>
            <a:pPr lvl="1"/>
            <a:r>
              <a:t/>
            </a:r>
          </a:p>
          <a:p>
            <a:pPr lvl="2"/>
            <a:r>
              <a:t/>
            </a:r>
          </a:p>
          <a:p>
            <a:pPr lvl="3"/>
            <a:r>
              <a:t/>
            </a:r>
          </a:p>
          <a:p>
            <a:pPr lvl="4"/>
            <a:r>
              <a:t/>
            </a:r>
          </a:p>
        </p:txBody>
      </p:sp>
      <p:sp>
        <p:nvSpPr>
          <p:cNvPr id="53"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61" name="Sea against sky at sunset"/>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Slide Subtitle"/>
          <p:cNvSpPr txBox="1"/>
          <p:nvPr>
            <p:ph type="body" sz="quarter" idx="22"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Slide Subtitle</a:t>
            </a:r>
          </a:p>
        </p:txBody>
      </p:sp>
      <p:sp>
        <p:nvSpPr>
          <p:cNvPr id="6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7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Slide Subtitle</a:t>
            </a:r>
          </a:p>
        </p:txBody>
      </p:sp>
      <p:sp>
        <p:nvSpPr>
          <p:cNvPr id="7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8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Slide Subtitle</a:t>
            </a:r>
          </a:p>
        </p:txBody>
      </p:sp>
      <p:sp>
        <p:nvSpPr>
          <p:cNvPr id="8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19200" y="3242270"/>
            <a:ext cx="21945600" cy="6604001"/>
          </a:xfrm>
          <a:prstGeom prst="rect">
            <a:avLst/>
          </a:prstGeom>
        </p:spPr>
        <p:txBody>
          <a:bodyPr anchor="ctr"/>
          <a:lstStyle>
            <a:lvl1pPr>
              <a:defRPr spc="0" sz="12800"/>
            </a:lvl1pPr>
          </a:lstStyle>
          <a:p>
            <a:pPr/>
            <a:r>
              <a:t>Section Title</a:t>
            </a:r>
          </a:p>
        </p:txBody>
      </p:sp>
      <p:sp>
        <p:nvSpPr>
          <p:cNvPr id="9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Slide Subtitle</a:t>
            </a:r>
          </a:p>
        </p:txBody>
      </p:sp>
      <p:sp>
        <p:nvSpPr>
          <p:cNvPr id="10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prstGeom prst="rect">
            <a:avLst/>
          </a:prstGeom>
        </p:spPr>
        <p:txBody>
          <a:bodyPr/>
          <a:lstStyle/>
          <a:p>
            <a:pPr/>
            <a:r>
              <a:t>Agenda Title</a:t>
            </a:r>
          </a:p>
        </p:txBody>
      </p:sp>
      <p:sp>
        <p:nvSpPr>
          <p:cNvPr id="109" name="Body Level One…"/>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Agenda Topics</a:t>
            </a:r>
          </a:p>
          <a:p>
            <a:pPr lvl="1"/>
            <a:r>
              <a:t/>
            </a:r>
          </a:p>
          <a:p>
            <a:pPr lvl="2"/>
            <a:r>
              <a:t/>
            </a:r>
          </a:p>
          <a:p>
            <a:pPr lvl="3"/>
            <a:r>
              <a:t/>
            </a:r>
          </a:p>
          <a:p>
            <a:pPr lvl="4"/>
            <a:r>
              <a:t/>
            </a:r>
          </a:p>
        </p:txBody>
      </p:sp>
      <p:sp>
        <p:nvSpPr>
          <p:cNvPr id="110" name="Agenda Subtitle"/>
          <p:cNvSpPr txBox="1"/>
          <p:nvPr>
            <p:ph type="body" sz="quarter" idx="21" hasCustomPrompt="1"/>
          </p:nvPr>
        </p:nvSpPr>
        <p:spPr>
          <a:xfrm>
            <a:off x="1219200" y="2387115"/>
            <a:ext cx="21945602" cy="832613"/>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Agenda Subtitle</a:t>
            </a:r>
          </a:p>
        </p:txBody>
      </p:sp>
      <p:sp>
        <p:nvSpPr>
          <p:cNvPr id="11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sz="4400">
                <a:latin typeface="Graphik Semibold"/>
                <a:ea typeface="Graphik Semibold"/>
                <a:cs typeface="Graphik Semibold"/>
                <a:sym typeface="Graphik Semibold"/>
              </a:defRPr>
            </a:lvl1pPr>
          </a:lstStyle>
          <a:p>
            <a:pPr/>
            <a:r>
              <a:t>Fact information</a:t>
            </a:r>
          </a:p>
        </p:txBody>
      </p:sp>
      <p:sp>
        <p:nvSpPr>
          <p:cNvPr id="127" name="Body Level One…"/>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1219200" y="11100053"/>
            <a:ext cx="21945602" cy="832613"/>
          </a:xfrm>
          <a:prstGeom prst="rect">
            <a:avLst/>
          </a:prstGeom>
        </p:spPr>
        <p:txBody>
          <a:bodyPr anchor="ctr"/>
          <a:lstStyle>
            <a:lvl1pPr marL="0" indent="0" defTabSz="825500">
              <a:lnSpc>
                <a:spcPct val="80000"/>
              </a:lnSpc>
              <a:spcBef>
                <a:spcPts val="0"/>
              </a:spcBef>
              <a:buSzTx/>
              <a:buNone/>
              <a:defRPr spc="-19" sz="2000"/>
            </a:lvl1pPr>
          </a:lstStyle>
          <a:p>
            <a:pPr/>
            <a:r>
              <a:t>Attribution</a:t>
            </a:r>
          </a:p>
        </p:txBody>
      </p:sp>
      <p:sp>
        <p:nvSpPr>
          <p:cNvPr id="136" name="Body Level One…"/>
          <p:cNvSpPr txBox="1"/>
          <p:nvPr>
            <p:ph type="body" sz="half" idx="1" hasCustomPrompt="1"/>
          </p:nvPr>
        </p:nvSpPr>
        <p:spPr>
          <a:xfrm>
            <a:off x="1219200" y="4178300"/>
            <a:ext cx="21945600" cy="4416425"/>
          </a:xfrm>
          <a:prstGeom prst="rect">
            <a:avLst/>
          </a:prstGeom>
        </p:spPr>
        <p:txBody>
          <a:bodyPr anchor="ctr"/>
          <a:lstStyle>
            <a:lvl1pPr marL="0" indent="0" defTabSz="2438400">
              <a:lnSpc>
                <a:spcPct val="100000"/>
              </a:lnSpc>
              <a:spcBef>
                <a:spcPts val="0"/>
              </a:spcBef>
              <a:buSzTx/>
              <a:buNone/>
              <a:defRPr sz="2800">
                <a:latin typeface="Canela Regular"/>
                <a:ea typeface="Canela Regular"/>
                <a:cs typeface="Canela Regular"/>
                <a:sym typeface="Canela Regular"/>
              </a:defRPr>
            </a:lvl1pPr>
            <a:lvl2pPr marL="0" indent="457200" defTabSz="2438400">
              <a:lnSpc>
                <a:spcPct val="100000"/>
              </a:lnSpc>
              <a:spcBef>
                <a:spcPts val="0"/>
              </a:spcBef>
              <a:buSzTx/>
              <a:buNone/>
              <a:defRPr sz="2800">
                <a:latin typeface="Canela Regular"/>
                <a:ea typeface="Canela Regular"/>
                <a:cs typeface="Canela Regular"/>
                <a:sym typeface="Canela Regular"/>
              </a:defRPr>
            </a:lvl2pPr>
            <a:lvl3pPr marL="0" indent="914400" defTabSz="2438400">
              <a:lnSpc>
                <a:spcPct val="100000"/>
              </a:lnSpc>
              <a:spcBef>
                <a:spcPts val="0"/>
              </a:spcBef>
              <a:buSzTx/>
              <a:buNone/>
              <a:defRPr sz="2800">
                <a:latin typeface="Canela Regular"/>
                <a:ea typeface="Canela Regular"/>
                <a:cs typeface="Canela Regular"/>
                <a:sym typeface="Canela Regular"/>
              </a:defRPr>
            </a:lvl3pPr>
            <a:lvl4pPr marL="0" indent="1371600" defTabSz="2438400">
              <a:lnSpc>
                <a:spcPct val="100000"/>
              </a:lnSpc>
              <a:spcBef>
                <a:spcPts val="0"/>
              </a:spcBef>
              <a:buSzTx/>
              <a:buNone/>
              <a:defRPr sz="2800">
                <a:latin typeface="Canela Regular"/>
                <a:ea typeface="Canela Regular"/>
                <a:cs typeface="Canela Regular"/>
                <a:sym typeface="Canela Regular"/>
              </a:defRPr>
            </a:lvl4pPr>
            <a:lvl5pPr marL="0" indent="1828800" defTabSz="2438400">
              <a:lnSpc>
                <a:spcPct val="100000"/>
              </a:lnSpc>
              <a:spcBef>
                <a:spcPts val="0"/>
              </a:spcBef>
              <a:buSzTx/>
              <a:buNone/>
              <a:defRPr sz="2800">
                <a:latin typeface="Canela Regular"/>
                <a:ea typeface="Canela Regular"/>
                <a:cs typeface="Canela Regular"/>
                <a:sym typeface="Canela Regular"/>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Sea against sky at sunset 2"/>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45" name="Sea against sky at sunset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Beach and sea at sunset"/>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each and sea at sunset"/>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1997689" y="12700000"/>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42" strike="noStrike" sz="4200" u="none">
          <a:solidFill>
            <a:srgbClr val="000000"/>
          </a:solidFill>
          <a:uFillTx/>
          <a:latin typeface="+mn-lt"/>
          <a:ea typeface="+mn-ea"/>
          <a:cs typeface="+mn-cs"/>
          <a:sym typeface="Canela Bold"/>
        </a:defRPr>
      </a:lvl9pPr>
    </p:titleStyle>
    <p:bodyStyle>
      <a:lvl1pPr marL="4468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1pPr>
      <a:lvl2pPr marL="9929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2pPr>
      <a:lvl3pPr marL="15390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3pPr>
      <a:lvl4pPr marL="20851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4pPr>
      <a:lvl5pPr marL="26312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5pPr>
      <a:lvl6pPr marL="31773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6pPr>
      <a:lvl7pPr marL="37234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7pPr>
      <a:lvl8pPr marL="42695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8pPr>
      <a:lvl9pPr marL="4815609" marR="0" indent="-446809" algn="l" defTabSz="2438338" rtl="0" latinLnBrk="0">
        <a:lnSpc>
          <a:spcPct val="90000"/>
        </a:lnSpc>
        <a:spcBef>
          <a:spcPts val="2400"/>
        </a:spcBef>
        <a:spcAft>
          <a:spcPts val="0"/>
        </a:spcAft>
        <a:buClrTx/>
        <a:buSzPct val="150000"/>
        <a:buFontTx/>
        <a:buChar char="•"/>
        <a:tabLst/>
        <a:defRPr b="0" baseline="0" cap="none" i="0" spc="0" strike="noStrike" sz="36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Screenshot 2025-11-20 at 02.48.59.png" descr="Screenshot 2025-11-20 at 02.48.59.png"/>
          <p:cNvPicPr>
            <a:picLocks noChangeAspect="1"/>
          </p:cNvPicPr>
          <p:nvPr/>
        </p:nvPicPr>
        <p:blipFill>
          <a:blip r:embed="rId2">
            <a:extLst/>
          </a:blip>
          <a:stretch>
            <a:fillRect/>
          </a:stretch>
        </p:blipFill>
        <p:spPr>
          <a:xfrm>
            <a:off x="3304325" y="1565698"/>
            <a:ext cx="16007107" cy="8198236"/>
          </a:xfrm>
          <a:prstGeom prst="rect">
            <a:avLst/>
          </a:prstGeom>
          <a:ln w="12700">
            <a:miter lim="400000"/>
          </a:ln>
        </p:spPr>
      </p:pic>
      <p:sp>
        <p:nvSpPr>
          <p:cNvPr id="172" name="Zihan Bai…"/>
          <p:cNvSpPr txBox="1"/>
          <p:nvPr>
            <p:ph type="ctrTitle"/>
          </p:nvPr>
        </p:nvSpPr>
        <p:spPr>
          <a:xfrm>
            <a:off x="17978903" y="11168117"/>
            <a:ext cx="6087503" cy="1800888"/>
          </a:xfrm>
          <a:prstGeom prst="rect">
            <a:avLst/>
          </a:prstGeom>
        </p:spPr>
        <p:txBody>
          <a:bodyPr anchor="t"/>
          <a:lstStyle/>
          <a:p>
            <a:pPr algn="l" defTabSz="2438338">
              <a:lnSpc>
                <a:spcPct val="90000"/>
              </a:lnSpc>
              <a:spcBef>
                <a:spcPts val="2400"/>
              </a:spcBef>
              <a:defRPr b="0" spc="0" sz="3600">
                <a:latin typeface="Canela Regular"/>
                <a:ea typeface="Canela Regular"/>
                <a:cs typeface="Canela Regular"/>
                <a:sym typeface="Canela Regular"/>
              </a:defRPr>
            </a:pPr>
            <a:r>
              <a:t>Zihan Bai</a:t>
            </a:r>
          </a:p>
          <a:p>
            <a:pPr algn="l" defTabSz="2438338">
              <a:lnSpc>
                <a:spcPct val="90000"/>
              </a:lnSpc>
              <a:spcBef>
                <a:spcPts val="2400"/>
              </a:spcBef>
              <a:defRPr b="0" spc="0" sz="3600">
                <a:latin typeface="Canela Regular"/>
                <a:ea typeface="Canela Regular"/>
                <a:cs typeface="Canela Regular"/>
                <a:sym typeface="Canela Regular"/>
              </a:defRPr>
            </a:pPr>
            <a:r>
              <a:t>IDEM Lab Meeting, 11/21/25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4" name="pasted-movie.png" descr="pasted-movie.png"/>
          <p:cNvPicPr>
            <a:picLocks noChangeAspect="1"/>
          </p:cNvPicPr>
          <p:nvPr/>
        </p:nvPicPr>
        <p:blipFill>
          <a:blip r:embed="rId2">
            <a:extLst/>
          </a:blip>
          <a:stretch>
            <a:fillRect/>
          </a:stretch>
        </p:blipFill>
        <p:spPr>
          <a:xfrm>
            <a:off x="5345480" y="2088729"/>
            <a:ext cx="13693040" cy="912869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Human performance (instrumental learning) is not supported by reinforcement learning (RL) computations.…"/>
          <p:cNvSpPr txBox="1"/>
          <p:nvPr>
            <p:ph type="title"/>
          </p:nvPr>
        </p:nvSpPr>
        <p:spPr>
          <a:xfrm>
            <a:off x="3984194" y="5130638"/>
            <a:ext cx="18332906" cy="2715529"/>
          </a:xfrm>
          <a:prstGeom prst="rect">
            <a:avLst/>
          </a:prstGeom>
        </p:spPr>
        <p:txBody>
          <a:bodyPr/>
          <a:lstStyle/>
          <a:p>
            <a:pPr algn="l" defTabSz="2438338">
              <a:lnSpc>
                <a:spcPct val="90000"/>
              </a:lnSpc>
              <a:spcBef>
                <a:spcPts val="2400"/>
              </a:spcBef>
              <a:defRPr spc="0" sz="3600">
                <a:latin typeface="Canela Text Regular"/>
                <a:ea typeface="Canela Text Regular"/>
                <a:cs typeface="Canela Text Regular"/>
                <a:sym typeface="Canela Text Regular"/>
              </a:defRPr>
            </a:pPr>
            <a:r>
              <a:t>Human performance (instrumental learning) is not supported by reinforcement learning (RL) computations. </a:t>
            </a:r>
          </a:p>
          <a:p>
            <a:pPr algn="l" defTabSz="2438338">
              <a:lnSpc>
                <a:spcPct val="90000"/>
              </a:lnSpc>
              <a:spcBef>
                <a:spcPts val="2400"/>
              </a:spcBef>
              <a:defRPr spc="0" sz="3600">
                <a:latin typeface="Canela Text Regular"/>
                <a:ea typeface="Canela Text Regular"/>
                <a:cs typeface="Canela Text Regular"/>
                <a:sym typeface="Canela Text Regular"/>
              </a:defRPr>
            </a:pPr>
            <a:r>
              <a:t>Instead, it is driven by a fast working memory (WM) and a slow habit (H) system.</a:t>
            </a:r>
          </a:p>
        </p:txBody>
      </p:sp>
      <p:sp>
        <p:nvSpPr>
          <p:cNvPr id="177" name="Central Claim"/>
          <p:cNvSpPr txBox="1"/>
          <p:nvPr/>
        </p:nvSpPr>
        <p:spPr>
          <a:xfrm>
            <a:off x="1219200" y="774700"/>
            <a:ext cx="21945600" cy="9304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Central Claim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9" name="Screenshot 2025-11-20 at 00.19.51.png" descr="Screenshot 2025-11-20 at 00.19.51.png"/>
          <p:cNvPicPr>
            <a:picLocks noChangeAspect="1"/>
          </p:cNvPicPr>
          <p:nvPr/>
        </p:nvPicPr>
        <p:blipFill>
          <a:blip r:embed="rId2">
            <a:extLst/>
          </a:blip>
          <a:stretch>
            <a:fillRect/>
          </a:stretch>
        </p:blipFill>
        <p:spPr>
          <a:xfrm>
            <a:off x="9159033" y="2710190"/>
            <a:ext cx="6449569" cy="9844079"/>
          </a:xfrm>
          <a:prstGeom prst="rect">
            <a:avLst/>
          </a:prstGeom>
          <a:ln w="12700">
            <a:miter lim="400000"/>
          </a:ln>
        </p:spPr>
      </p:pic>
      <p:sp>
        <p:nvSpPr>
          <p:cNvPr id="180" name="RLWM Task"/>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RLWM Task</a:t>
            </a:r>
          </a:p>
        </p:txBody>
      </p:sp>
      <p:sp>
        <p:nvSpPr>
          <p:cNvPr id="181" name="Disentangle WM contributions from those of slower, iterative RL process to reward-based learning by manipulating information load"/>
          <p:cNvSpPr txBox="1"/>
          <p:nvPr>
            <p:ph type="body" sz="quarter" idx="1"/>
          </p:nvPr>
        </p:nvSpPr>
        <p:spPr>
          <a:xfrm>
            <a:off x="6807646" y="1559640"/>
            <a:ext cx="12575785" cy="1698193"/>
          </a:xfrm>
          <a:prstGeom prst="rect">
            <a:avLst/>
          </a:prstGeom>
        </p:spPr>
        <p:txBody>
          <a:bodyPr>
            <a:noAutofit/>
          </a:bodyPr>
          <a:lstStyle>
            <a:lvl1pPr marL="0" indent="0" defTabSz="2438400">
              <a:spcBef>
                <a:spcPts val="0"/>
              </a:spcBef>
              <a:buSzTx/>
              <a:buNone/>
              <a:defRPr sz="3200">
                <a:latin typeface="+mn-lt"/>
                <a:ea typeface="+mn-ea"/>
                <a:cs typeface="+mn-cs"/>
                <a:sym typeface="Canela Bold"/>
              </a:defRPr>
            </a:lvl1pPr>
          </a:lstStyle>
          <a:p>
            <a:pPr/>
            <a:r>
              <a:t>Disentangle WM contributions from those of slower, iterative RL process to reward-based learning by manipulating information load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hape"/>
          <p:cNvSpPr/>
          <p:nvPr/>
        </p:nvSpPr>
        <p:spPr>
          <a:xfrm rot="12334583">
            <a:off x="10922292" y="5964695"/>
            <a:ext cx="343528" cy="954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70" y="0"/>
                </a:moveTo>
                <a:lnTo>
                  <a:pt x="0" y="19239"/>
                </a:lnTo>
                <a:lnTo>
                  <a:pt x="18674" y="7885"/>
                </a:lnTo>
                <a:lnTo>
                  <a:pt x="12045" y="21600"/>
                </a:lnTo>
                <a:lnTo>
                  <a:pt x="21600" y="14993"/>
                </a:lnTo>
                <a:lnTo>
                  <a:pt x="16370" y="0"/>
                </a:lnTo>
                <a:close/>
              </a:path>
            </a:pathLst>
          </a:custGeom>
          <a:ln w="38100">
            <a:solidFill>
              <a:srgbClr val="FFFFFF">
                <a:alpha val="53887"/>
              </a:srgbClr>
            </a:solidFill>
            <a:miter lim="400000"/>
          </a:ln>
          <a:effectLst>
            <a:outerShdw sx="100000" sy="100000" kx="0" ky="0" algn="b" rotWithShape="0" blurRad="444500" dist="63500" dir="2700000">
              <a:srgbClr val="000000">
                <a:alpha val="49505"/>
              </a:srgbClr>
            </a:outerShdw>
          </a:effectLst>
        </p:spPr>
        <p:txBody>
          <a:bodyPr lIns="50800" tIns="50800" rIns="50800" bIns="50800" anchor="ctr"/>
          <a:lstStyle/>
          <a:p>
            <a:pPr/>
          </a:p>
        </p:txBody>
      </p:sp>
      <p:sp>
        <p:nvSpPr>
          <p:cNvPr id="184" name="Natural human learning patterns across multiple datasets"/>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Natural human learning patterns across multiple datasets</a:t>
            </a:r>
          </a:p>
        </p:txBody>
      </p:sp>
      <p:pic>
        <p:nvPicPr>
          <p:cNvPr id="185" name="Screenshot 2025-11-20 at 00.02.18.png" descr="Screenshot 2025-11-20 at 00.02.18.png"/>
          <p:cNvPicPr>
            <a:picLocks noChangeAspect="1"/>
          </p:cNvPicPr>
          <p:nvPr/>
        </p:nvPicPr>
        <p:blipFill>
          <a:blip r:embed="rId2">
            <a:extLst/>
          </a:blip>
          <a:srcRect l="815" t="0" r="65988" b="0"/>
          <a:stretch>
            <a:fillRect/>
          </a:stretch>
        </p:blipFill>
        <p:spPr>
          <a:xfrm>
            <a:off x="5023682" y="1389176"/>
            <a:ext cx="7426984" cy="4323059"/>
          </a:xfrm>
          <a:prstGeom prst="rect">
            <a:avLst/>
          </a:prstGeom>
          <a:ln w="12700">
            <a:miter lim="400000"/>
          </a:ln>
        </p:spPr>
      </p:pic>
      <p:sp>
        <p:nvSpPr>
          <p:cNvPr id="186" name="Small sets (n= 2, 3): near perfect performance…"/>
          <p:cNvSpPr txBox="1"/>
          <p:nvPr/>
        </p:nvSpPr>
        <p:spPr>
          <a:xfrm>
            <a:off x="7774725" y="8837125"/>
            <a:ext cx="7695009" cy="44683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defTabSz="2438400">
              <a:lnSpc>
                <a:spcPct val="100000"/>
              </a:lnSpc>
              <a:spcBef>
                <a:spcPts val="0"/>
              </a:spcBef>
              <a:defRPr sz="2800">
                <a:latin typeface="Canela Regular"/>
                <a:ea typeface="Canela Regular"/>
                <a:cs typeface="Canela Regular"/>
                <a:sym typeface="Canela Regular"/>
              </a:defRPr>
            </a:pPr>
            <a:r>
              <a:t>Small sets (n= 2, 3): near perfect performance</a:t>
            </a:r>
          </a:p>
          <a:p>
            <a:pPr defTabSz="2438400">
              <a:lnSpc>
                <a:spcPct val="100000"/>
              </a:lnSpc>
              <a:spcBef>
                <a:spcPts val="0"/>
              </a:spcBef>
              <a:defRPr sz="2800">
                <a:latin typeface="Canela Regular"/>
                <a:ea typeface="Canela Regular"/>
                <a:cs typeface="Canela Regular"/>
                <a:sym typeface="Canela Regular"/>
              </a:defRPr>
            </a:pPr>
            <a:r>
              <a:t>Large sets (n= 6): performance drops significantly</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When overloaded, they stop caring about correct vs. incorrect. They just repeat whatever they pressed last time, even if it was a mistake - proof of brain isn’t calculating value (RL, it’s just building a habit)</a:t>
            </a:r>
          </a:p>
        </p:txBody>
      </p:sp>
      <p:sp>
        <p:nvSpPr>
          <p:cNvPr id="187" name="What RL assumes"/>
          <p:cNvSpPr txBox="1"/>
          <p:nvPr/>
        </p:nvSpPr>
        <p:spPr>
          <a:xfrm>
            <a:off x="1579216" y="7855833"/>
            <a:ext cx="4128108" cy="7906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2438400">
              <a:spcBef>
                <a:spcPts val="0"/>
              </a:spcBef>
              <a:defRPr sz="3200">
                <a:latin typeface="+mn-lt"/>
                <a:ea typeface="+mn-ea"/>
                <a:cs typeface="+mn-cs"/>
                <a:sym typeface="Canela Bold"/>
              </a:defRPr>
            </a:lvl1pPr>
          </a:lstStyle>
          <a:p>
            <a:pPr/>
            <a:r>
              <a:t>What RL assumes</a:t>
            </a:r>
          </a:p>
        </p:txBody>
      </p:sp>
      <p:sp>
        <p:nvSpPr>
          <p:cNvPr id="188" name="People should continuously update the value of their choices by learning from mistakes (negative feedback).…"/>
          <p:cNvSpPr txBox="1"/>
          <p:nvPr/>
        </p:nvSpPr>
        <p:spPr>
          <a:xfrm>
            <a:off x="798090" y="8876814"/>
            <a:ext cx="6558748" cy="38363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defTabSz="2438400">
              <a:lnSpc>
                <a:spcPct val="100000"/>
              </a:lnSpc>
              <a:spcBef>
                <a:spcPts val="0"/>
              </a:spcBef>
              <a:defRPr sz="2800">
                <a:latin typeface="Canela Regular"/>
                <a:ea typeface="Canela Regular"/>
                <a:cs typeface="Canela Regular"/>
                <a:sym typeface="Canela Regular"/>
              </a:defRPr>
            </a:pPr>
            <a:r>
              <a:t>People should continuously update the value of their choices by learning from mistakes (negative feedback).</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So they should rarely repeat the same mistake twice, and should learn 6 items as effectively as 3 (no set-size effect)</a:t>
            </a:r>
          </a:p>
        </p:txBody>
      </p:sp>
      <p:sp>
        <p:nvSpPr>
          <p:cNvPr id="189" name="What the actual behavior is"/>
          <p:cNvSpPr txBox="1"/>
          <p:nvPr/>
        </p:nvSpPr>
        <p:spPr>
          <a:xfrm>
            <a:off x="8591274" y="7855833"/>
            <a:ext cx="6061910" cy="7906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lvl1pPr defTabSz="2438400">
              <a:spcBef>
                <a:spcPts val="0"/>
              </a:spcBef>
              <a:defRPr sz="3200">
                <a:latin typeface="+mn-lt"/>
                <a:ea typeface="+mn-ea"/>
                <a:cs typeface="+mn-cs"/>
                <a:sym typeface="Canela Bold"/>
              </a:defRPr>
            </a:lvl1pPr>
          </a:lstStyle>
          <a:p>
            <a:pPr/>
            <a:r>
              <a:t>What the actual behavior is</a:t>
            </a:r>
          </a:p>
        </p:txBody>
      </p:sp>
      <p:sp>
        <p:nvSpPr>
          <p:cNvPr id="190" name="What this implies"/>
          <p:cNvSpPr txBox="1"/>
          <p:nvPr/>
        </p:nvSpPr>
        <p:spPr>
          <a:xfrm>
            <a:off x="17630129" y="7855833"/>
            <a:ext cx="4001858" cy="7906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lvl1pPr defTabSz="2438400">
              <a:spcBef>
                <a:spcPts val="0"/>
              </a:spcBef>
              <a:defRPr sz="3200">
                <a:latin typeface="+mn-lt"/>
                <a:ea typeface="+mn-ea"/>
                <a:cs typeface="+mn-cs"/>
                <a:sym typeface="Canela Bold"/>
              </a:defRPr>
            </a:lvl1pPr>
          </a:lstStyle>
          <a:p>
            <a:pPr/>
            <a:r>
              <a:t>What this implies</a:t>
            </a:r>
          </a:p>
        </p:txBody>
      </p:sp>
      <p:sp>
        <p:nvSpPr>
          <p:cNvPr id="191" name="A resource-limited process, working memory, is the primary indicator of learning, not reward value integration"/>
          <p:cNvSpPr txBox="1"/>
          <p:nvPr/>
        </p:nvSpPr>
        <p:spPr>
          <a:xfrm>
            <a:off x="15887621" y="8837125"/>
            <a:ext cx="7475636" cy="19890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lvl1pPr defTabSz="2438400">
              <a:lnSpc>
                <a:spcPct val="100000"/>
              </a:lnSpc>
              <a:spcBef>
                <a:spcPts val="0"/>
              </a:spcBef>
              <a:defRPr sz="2800">
                <a:latin typeface="+mn-lt"/>
                <a:ea typeface="+mn-ea"/>
                <a:cs typeface="+mn-cs"/>
                <a:sym typeface="Canela Bold"/>
              </a:defRPr>
            </a:lvl1pPr>
          </a:lstStyle>
          <a:p>
            <a:pPr/>
            <a:r>
              <a:t>A resource-limited process, working memory, is the primary indicator of learning, not reward value integration</a:t>
            </a:r>
          </a:p>
        </p:txBody>
      </p:sp>
      <p:pic>
        <p:nvPicPr>
          <p:cNvPr id="192" name="Screenshot 2025-11-20 at 00.55.11.png" descr="Screenshot 2025-11-20 at 00.55.11.png"/>
          <p:cNvPicPr>
            <a:picLocks noChangeAspect="1"/>
          </p:cNvPicPr>
          <p:nvPr/>
        </p:nvPicPr>
        <p:blipFill>
          <a:blip r:embed="rId3">
            <a:extLst/>
          </a:blip>
          <a:stretch>
            <a:fillRect/>
          </a:stretch>
        </p:blipFill>
        <p:spPr>
          <a:xfrm>
            <a:off x="12703057" y="1996429"/>
            <a:ext cx="7213601" cy="3568701"/>
          </a:xfrm>
          <a:prstGeom prst="rect">
            <a:avLst/>
          </a:prstGeom>
          <a:ln w="12700">
            <a:miter lim="400000"/>
          </a:ln>
        </p:spPr>
      </p:pic>
      <p:pic>
        <p:nvPicPr>
          <p:cNvPr id="193" name="Screenshot 2025-11-20 at 00.30.51.png" descr="Screenshot 2025-11-20 at 00.30.51.png"/>
          <p:cNvPicPr>
            <a:picLocks noChangeAspect="1"/>
          </p:cNvPicPr>
          <p:nvPr/>
        </p:nvPicPr>
        <p:blipFill>
          <a:blip r:embed="rId4">
            <a:extLst/>
          </a:blip>
          <a:stretch>
            <a:fillRect/>
          </a:stretch>
        </p:blipFill>
        <p:spPr>
          <a:xfrm>
            <a:off x="5316606" y="5789570"/>
            <a:ext cx="9463271" cy="198903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3"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A standard RL model cannot reproduce human behavior in this task"/>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A standard RL model cannot reproduce human behavior in this task</a:t>
            </a:r>
          </a:p>
        </p:txBody>
      </p:sp>
      <p:sp>
        <p:nvSpPr>
          <p:cNvPr id="196" name="Even if the task is hard (n=6), RL models still learn from mistakes, indicated by a non-zero difference between the number of chosen and unchosen errors…"/>
          <p:cNvSpPr txBox="1"/>
          <p:nvPr/>
        </p:nvSpPr>
        <p:spPr>
          <a:xfrm>
            <a:off x="12351432" y="2711008"/>
            <a:ext cx="9968434" cy="100583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defTabSz="2438400">
              <a:lnSpc>
                <a:spcPct val="100000"/>
              </a:lnSpc>
              <a:spcBef>
                <a:spcPts val="0"/>
              </a:spcBef>
              <a:defRPr sz="2800">
                <a:latin typeface="Canela Regular"/>
                <a:ea typeface="Canela Regular"/>
                <a:cs typeface="Canela Regular"/>
                <a:sym typeface="Canela Regular"/>
              </a:defRPr>
            </a:pPr>
            <a:r>
              <a:t>Even if the task is hard (n=6), RL models still learn from mistakes, indicated by a non-zero difference between the number of chosen and unchosen errors</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Why: RL algorithm is mathematically forced to update value when it gets an error - can’t ignore a zero</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(contrary to what was observed empirically!)</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They tried to make the RL model work. They even modified it to completely ignore negative feedback (setting the negative learning rate to zero). It still failed. The model predicted that WM would effectively guide us to avoid errors, even at high set sizes. But the human data showed that people do not avoid errors when overloaded. </a:t>
            </a:r>
          </a:p>
          <a:p>
            <a:pPr defTabSz="2438400">
              <a:lnSpc>
                <a:spcPct val="100000"/>
              </a:lnSpc>
              <a:spcBef>
                <a:spcPts val="0"/>
              </a:spcBef>
              <a:defRPr sz="2800">
                <a:latin typeface="Canela Regular"/>
                <a:ea typeface="Canela Regular"/>
                <a:cs typeface="Canela Regular"/>
                <a:sym typeface="Canela Regular"/>
              </a:defRPr>
            </a:pPr>
          </a:p>
          <a:p>
            <a:pPr defTabSz="2438400">
              <a:lnSpc>
                <a:spcPct val="100000"/>
              </a:lnSpc>
              <a:spcBef>
                <a:spcPts val="0"/>
              </a:spcBef>
              <a:defRPr sz="2800">
                <a:latin typeface="Canela Regular"/>
                <a:ea typeface="Canela Regular"/>
                <a:cs typeface="Canela Regular"/>
                <a:sym typeface="Canela Regular"/>
              </a:defRPr>
            </a:pPr>
            <a:r>
              <a:t>This implies that the slow learning process isn't just "failing to learn" from errors; it is actively working </a:t>
            </a:r>
            <a:r>
              <a:rPr>
                <a:latin typeface="+mn-lt"/>
                <a:ea typeface="+mn-ea"/>
                <a:cs typeface="+mn-cs"/>
                <a:sym typeface="Canela Bold"/>
              </a:rPr>
              <a:t>against</a:t>
            </a:r>
            <a:r>
              <a:t> the correct choice.</a:t>
            </a:r>
          </a:p>
        </p:txBody>
      </p:sp>
      <p:grpSp>
        <p:nvGrpSpPr>
          <p:cNvPr id="199" name="Group"/>
          <p:cNvGrpSpPr/>
          <p:nvPr/>
        </p:nvGrpSpPr>
        <p:grpSpPr>
          <a:xfrm>
            <a:off x="1941476" y="1367851"/>
            <a:ext cx="9837306" cy="12295350"/>
            <a:chOff x="0" y="0"/>
            <a:chExt cx="9837305" cy="12295349"/>
          </a:xfrm>
        </p:grpSpPr>
        <p:pic>
          <p:nvPicPr>
            <p:cNvPr id="197" name="Screenshot 2025-11-20 at 01.10.16.png" descr="Screenshot 2025-11-20 at 01.10.16.png"/>
            <p:cNvPicPr>
              <a:picLocks noChangeAspect="1"/>
            </p:cNvPicPr>
            <p:nvPr/>
          </p:nvPicPr>
          <p:blipFill>
            <a:blip r:embed="rId2">
              <a:extLst/>
            </a:blip>
            <a:stretch>
              <a:fillRect/>
            </a:stretch>
          </p:blipFill>
          <p:spPr>
            <a:xfrm>
              <a:off x="0" y="0"/>
              <a:ext cx="7222962" cy="12295350"/>
            </a:xfrm>
            <a:prstGeom prst="rect">
              <a:avLst/>
            </a:prstGeom>
            <a:ln w="12700" cap="flat">
              <a:noFill/>
              <a:miter lim="400000"/>
            </a:ln>
            <a:effectLst/>
          </p:spPr>
        </p:pic>
        <p:pic>
          <p:nvPicPr>
            <p:cNvPr id="198" name="Screenshot 2025-11-20 at 01.10.39.png" descr="Screenshot 2025-11-20 at 01.10.39.png"/>
            <p:cNvPicPr>
              <a:picLocks noChangeAspect="1"/>
            </p:cNvPicPr>
            <p:nvPr/>
          </p:nvPicPr>
          <p:blipFill>
            <a:blip r:embed="rId3">
              <a:extLst/>
            </a:blip>
            <a:stretch>
              <a:fillRect/>
            </a:stretch>
          </p:blipFill>
          <p:spPr>
            <a:xfrm>
              <a:off x="6981505" y="5159054"/>
              <a:ext cx="2855801" cy="5193368"/>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What is the solution that explains human learning when overloaded?"/>
          <p:cNvSpPr txBox="1"/>
          <p:nvPr/>
        </p:nvSpPr>
        <p:spPr>
          <a:xfrm>
            <a:off x="1219200" y="5993065"/>
            <a:ext cx="21945601" cy="93047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What is the solution that explains human learning when overloaded?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A new WM-H model fits the data"/>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A new WM-H model fits the data</a:t>
            </a:r>
          </a:p>
        </p:txBody>
      </p:sp>
      <p:pic>
        <p:nvPicPr>
          <p:cNvPr id="204" name="Screenshot 2025-11-20 at 01.17.38.png" descr="Screenshot 2025-11-20 at 01.17.38.png"/>
          <p:cNvPicPr>
            <a:picLocks noChangeAspect="1"/>
          </p:cNvPicPr>
          <p:nvPr/>
        </p:nvPicPr>
        <p:blipFill>
          <a:blip r:embed="rId2">
            <a:extLst/>
          </a:blip>
          <a:stretch>
            <a:fillRect/>
          </a:stretch>
        </p:blipFill>
        <p:spPr>
          <a:xfrm>
            <a:off x="3107720" y="4016439"/>
            <a:ext cx="6616701" cy="7581901"/>
          </a:xfrm>
          <a:prstGeom prst="rect">
            <a:avLst/>
          </a:prstGeom>
          <a:ln w="12700">
            <a:miter lim="400000"/>
          </a:ln>
        </p:spPr>
      </p:pic>
      <p:pic>
        <p:nvPicPr>
          <p:cNvPr id="205" name="Screenshot 2025-11-20 at 01.18.39.png" descr="Screenshot 2025-11-20 at 01.18.39.png"/>
          <p:cNvPicPr>
            <a:picLocks noChangeAspect="1"/>
          </p:cNvPicPr>
          <p:nvPr/>
        </p:nvPicPr>
        <p:blipFill>
          <a:blip r:embed="rId3">
            <a:extLst/>
          </a:blip>
          <a:stretch>
            <a:fillRect/>
          </a:stretch>
        </p:blipFill>
        <p:spPr>
          <a:xfrm>
            <a:off x="12586070" y="3625050"/>
            <a:ext cx="5880101" cy="9791701"/>
          </a:xfrm>
          <a:prstGeom prst="rect">
            <a:avLst/>
          </a:prstGeom>
          <a:ln w="12700">
            <a:miter lim="400000"/>
          </a:ln>
        </p:spPr>
      </p:pic>
      <p:sp>
        <p:nvSpPr>
          <p:cNvPr id="206" name="Introduce a habit (H) agent, where value of both reward and mistake is the same (r = 1)…"/>
          <p:cNvSpPr txBox="1"/>
          <p:nvPr/>
        </p:nvSpPr>
        <p:spPr>
          <a:xfrm>
            <a:off x="5662458" y="1501296"/>
            <a:ext cx="13059084" cy="15435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defTabSz="2438400">
              <a:lnSpc>
                <a:spcPct val="100000"/>
              </a:lnSpc>
              <a:spcBef>
                <a:spcPts val="0"/>
              </a:spcBef>
              <a:defRPr sz="2800">
                <a:latin typeface="Canela Regular"/>
                <a:ea typeface="Canela Regular"/>
                <a:cs typeface="Canela Regular"/>
                <a:sym typeface="Canela Regular"/>
              </a:defRPr>
            </a:pPr>
            <a:r>
              <a:t>Introduce a </a:t>
            </a:r>
            <a:r>
              <a:rPr>
                <a:latin typeface="+mn-lt"/>
                <a:ea typeface="+mn-ea"/>
                <a:cs typeface="+mn-cs"/>
                <a:sym typeface="Canela Bold"/>
              </a:rPr>
              <a:t>habit</a:t>
            </a:r>
            <a:r>
              <a:t> (H) agent, where value of both reward and mistake is the same (r = 1)</a:t>
            </a:r>
          </a:p>
          <a:p>
            <a:pPr defTabSz="2438400">
              <a:lnSpc>
                <a:spcPct val="100000"/>
              </a:lnSpc>
              <a:spcBef>
                <a:spcPts val="0"/>
              </a:spcBef>
              <a:defRPr sz="2800">
                <a:latin typeface="Canela Regular"/>
                <a:ea typeface="Canela Regular"/>
                <a:cs typeface="Canela Regular"/>
                <a:sym typeface="Canela Regular"/>
              </a:defRPr>
            </a:pPr>
            <a:r>
              <a:t>It tracks</a:t>
            </a:r>
            <a:r>
              <a:rPr>
                <a:latin typeface="+mn-lt"/>
                <a:ea typeface="+mn-ea"/>
                <a:cs typeface="+mn-cs"/>
                <a:sym typeface="Canela Bold"/>
              </a:rPr>
              <a:t> frequency </a:t>
            </a:r>
            <a:r>
              <a:t>of choice, but not value, regardless of outcomes</a:t>
            </a:r>
          </a:p>
        </p:txBody>
      </p:sp>
      <p:sp>
        <p:nvSpPr>
          <p:cNvPr id="207" name="WMH is the best fit across all datasets"/>
          <p:cNvSpPr txBox="1"/>
          <p:nvPr>
            <p:ph type="body" sz="quarter" idx="1"/>
          </p:nvPr>
        </p:nvSpPr>
        <p:spPr>
          <a:xfrm>
            <a:off x="3131366" y="3008334"/>
            <a:ext cx="8992093" cy="790630"/>
          </a:xfrm>
          <a:prstGeom prst="rect">
            <a:avLst/>
          </a:prstGeom>
        </p:spPr>
        <p:txBody>
          <a:bodyPr/>
          <a:lstStyle>
            <a:lvl1pPr marL="0" indent="0" defTabSz="2438400">
              <a:spcBef>
                <a:spcPts val="0"/>
              </a:spcBef>
              <a:buSzTx/>
              <a:buNone/>
              <a:defRPr sz="3200">
                <a:latin typeface="+mn-lt"/>
                <a:ea typeface="+mn-ea"/>
                <a:cs typeface="+mn-cs"/>
                <a:sym typeface="Canela Bold"/>
              </a:defRPr>
            </a:lvl1pPr>
          </a:lstStyle>
          <a:p>
            <a:pPr/>
            <a:r>
              <a:t>WMH is the best fit across all datasets</a:t>
            </a:r>
          </a:p>
        </p:txBody>
      </p:sp>
      <p:sp>
        <p:nvSpPr>
          <p:cNvPr id="208" name="WMH reproduces natural human learning"/>
          <p:cNvSpPr txBox="1"/>
          <p:nvPr/>
        </p:nvSpPr>
        <p:spPr>
          <a:xfrm>
            <a:off x="11789109" y="3008334"/>
            <a:ext cx="8992094" cy="7906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2438400">
              <a:spcBef>
                <a:spcPts val="0"/>
              </a:spcBef>
              <a:defRPr sz="3200">
                <a:latin typeface="+mn-lt"/>
                <a:ea typeface="+mn-ea"/>
                <a:cs typeface="+mn-cs"/>
                <a:sym typeface="Canela Bold"/>
              </a:defRPr>
            </a:lvl1pPr>
          </a:lstStyle>
          <a:p>
            <a:pPr/>
            <a:r>
              <a:t>WMH reproduces natural human learning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WMH model works for tasks where the answer is always 100% correct…"/>
          <p:cNvSpPr txBox="1"/>
          <p:nvPr/>
        </p:nvSpPr>
        <p:spPr>
          <a:xfrm>
            <a:off x="1203184" y="4822137"/>
            <a:ext cx="21977632" cy="40717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algn="ctr" defTabSz="2438400">
              <a:lnSpc>
                <a:spcPct val="80000"/>
              </a:lnSpc>
              <a:spcBef>
                <a:spcPts val="0"/>
              </a:spcBef>
              <a:defRPr spc="-42" sz="4200">
                <a:latin typeface="+mn-lt"/>
                <a:ea typeface="+mn-ea"/>
                <a:cs typeface="+mn-cs"/>
                <a:sym typeface="Canela Bold"/>
              </a:defRPr>
            </a:pPr>
            <a:r>
              <a:t>WMH model works for tasks where the answer is always 100% correct</a:t>
            </a:r>
          </a:p>
          <a:p>
            <a:pPr algn="ctr" defTabSz="2438400">
              <a:lnSpc>
                <a:spcPct val="80000"/>
              </a:lnSpc>
              <a:spcBef>
                <a:spcPts val="0"/>
              </a:spcBef>
              <a:defRPr spc="-42" sz="4200">
                <a:latin typeface="+mn-lt"/>
                <a:ea typeface="+mn-ea"/>
                <a:cs typeface="+mn-cs"/>
                <a:sym typeface="Canela Bold"/>
              </a:defRPr>
            </a:pPr>
          </a:p>
          <a:p>
            <a:pPr algn="ctr" defTabSz="2438400">
              <a:lnSpc>
                <a:spcPct val="80000"/>
              </a:lnSpc>
              <a:spcBef>
                <a:spcPts val="0"/>
              </a:spcBef>
              <a:defRPr spc="-42" sz="4200">
                <a:latin typeface="+mn-lt"/>
                <a:ea typeface="+mn-ea"/>
                <a:cs typeface="+mn-cs"/>
                <a:sym typeface="Canela Bold"/>
              </a:defRPr>
            </a:pPr>
            <a:r>
              <a:t>But RL is specifically designed for probabilistic environments</a:t>
            </a:r>
          </a:p>
          <a:p>
            <a:pPr algn="ctr" defTabSz="2438400">
              <a:lnSpc>
                <a:spcPct val="80000"/>
              </a:lnSpc>
              <a:spcBef>
                <a:spcPts val="0"/>
              </a:spcBef>
              <a:defRPr spc="-42" sz="4200">
                <a:latin typeface="+mn-lt"/>
                <a:ea typeface="+mn-ea"/>
                <a:cs typeface="+mn-cs"/>
                <a:sym typeface="Canela Bold"/>
              </a:defRPr>
            </a:pPr>
            <a:r>
              <a:t>(e.g., correct = 80% reward)</a:t>
            </a:r>
          </a:p>
          <a:p>
            <a:pPr algn="ctr" defTabSz="2438400">
              <a:lnSpc>
                <a:spcPct val="80000"/>
              </a:lnSpc>
              <a:spcBef>
                <a:spcPts val="0"/>
              </a:spcBef>
              <a:defRPr spc="-42" sz="4200">
                <a:latin typeface="+mn-lt"/>
                <a:ea typeface="+mn-ea"/>
                <a:cs typeface="+mn-cs"/>
                <a:sym typeface="Canela Bold"/>
              </a:defRPr>
            </a:pPr>
          </a:p>
          <a:p>
            <a:pPr algn="ctr" defTabSz="2438400">
              <a:lnSpc>
                <a:spcPct val="80000"/>
              </a:lnSpc>
              <a:spcBef>
                <a:spcPts val="0"/>
              </a:spcBef>
              <a:defRPr spc="-42" sz="4200">
                <a:latin typeface="+mn-lt"/>
                <a:ea typeface="+mn-ea"/>
                <a:cs typeface="+mn-cs"/>
                <a:sym typeface="Canela Bold"/>
              </a:defRPr>
            </a:pPr>
            <a:r>
              <a:t>Does this model still work?</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WM-H  also fits the data in a probabilistic task"/>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WM-H  also fits the data in a probabilistic task</a:t>
            </a:r>
          </a:p>
        </p:txBody>
      </p:sp>
      <p:pic>
        <p:nvPicPr>
          <p:cNvPr id="213" name="Screenshot 2025-11-20 at 01.50.17.png" descr="Screenshot 2025-11-20 at 01.50.17.png"/>
          <p:cNvPicPr>
            <a:picLocks noChangeAspect="1"/>
          </p:cNvPicPr>
          <p:nvPr/>
        </p:nvPicPr>
        <p:blipFill>
          <a:blip r:embed="rId2">
            <a:extLst/>
          </a:blip>
          <a:stretch>
            <a:fillRect/>
          </a:stretch>
        </p:blipFill>
        <p:spPr>
          <a:xfrm>
            <a:off x="268539" y="3214636"/>
            <a:ext cx="23846922" cy="550618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But if habit system is this rigid that it ignores outcomes,…"/>
          <p:cNvSpPr txBox="1"/>
          <p:nvPr/>
        </p:nvSpPr>
        <p:spPr>
          <a:xfrm>
            <a:off x="731561" y="5561486"/>
            <a:ext cx="22920878" cy="25930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algn="ctr" defTabSz="2438400">
              <a:lnSpc>
                <a:spcPct val="80000"/>
              </a:lnSpc>
              <a:spcBef>
                <a:spcPts val="0"/>
              </a:spcBef>
              <a:defRPr spc="-42" sz="4200">
                <a:latin typeface="+mn-lt"/>
                <a:ea typeface="+mn-ea"/>
                <a:cs typeface="+mn-cs"/>
                <a:sym typeface="Canela Bold"/>
              </a:defRPr>
            </a:pPr>
            <a:r>
              <a:t>But if habit system is this rigid that it ignores outcomes, </a:t>
            </a:r>
          </a:p>
          <a:p>
            <a:pPr algn="ctr" defTabSz="2438400">
              <a:lnSpc>
                <a:spcPct val="80000"/>
              </a:lnSpc>
              <a:spcBef>
                <a:spcPts val="0"/>
              </a:spcBef>
              <a:defRPr spc="-42" sz="4200">
                <a:latin typeface="+mn-lt"/>
                <a:ea typeface="+mn-ea"/>
                <a:cs typeface="+mn-cs"/>
                <a:sym typeface="Canela Bold"/>
              </a:defRPr>
            </a:pPr>
          </a:p>
          <a:p>
            <a:pPr algn="ctr" defTabSz="2438400">
              <a:lnSpc>
                <a:spcPct val="80000"/>
              </a:lnSpc>
              <a:spcBef>
                <a:spcPts val="0"/>
              </a:spcBef>
              <a:defRPr spc="-42" sz="4200">
                <a:latin typeface="+mn-lt"/>
                <a:ea typeface="+mn-ea"/>
                <a:cs typeface="+mn-cs"/>
                <a:sym typeface="Canela Bold"/>
              </a:defRPr>
            </a:pPr>
            <a:r>
              <a:t>how do human actually learn anything at all?</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H agents learn to mimic RL when WM contributes enough to choices"/>
          <p:cNvSpPr txBox="1"/>
          <p:nvPr/>
        </p:nvSpPr>
        <p:spPr>
          <a:xfrm>
            <a:off x="1219200" y="371462"/>
            <a:ext cx="2194560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80000"/>
              </a:lnSpc>
              <a:spcBef>
                <a:spcPts val="0"/>
              </a:spcBef>
              <a:defRPr spc="-42" sz="4200">
                <a:latin typeface="+mn-lt"/>
                <a:ea typeface="+mn-ea"/>
                <a:cs typeface="+mn-cs"/>
                <a:sym typeface="Canela Bold"/>
              </a:defRPr>
            </a:lvl1pPr>
          </a:lstStyle>
          <a:p>
            <a:pPr/>
            <a:r>
              <a:t>H agents learn to mimic RL when WM contributes enough to choices</a:t>
            </a:r>
          </a:p>
        </p:txBody>
      </p:sp>
      <p:pic>
        <p:nvPicPr>
          <p:cNvPr id="218" name="Screenshot 2025-11-20 at 01.58.30.png" descr="Screenshot 2025-11-20 at 01.58.30.png"/>
          <p:cNvPicPr>
            <a:picLocks noChangeAspect="1"/>
          </p:cNvPicPr>
          <p:nvPr/>
        </p:nvPicPr>
        <p:blipFill>
          <a:blip r:embed="rId2">
            <a:extLst/>
          </a:blip>
          <a:stretch>
            <a:fillRect/>
          </a:stretch>
        </p:blipFill>
        <p:spPr>
          <a:xfrm>
            <a:off x="2493139" y="2160605"/>
            <a:ext cx="19397722" cy="939479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Q &amp; A"/>
          <p:cNvSpPr txBox="1"/>
          <p:nvPr/>
        </p:nvSpPr>
        <p:spPr>
          <a:xfrm>
            <a:off x="494363" y="337112"/>
            <a:ext cx="22920878" cy="25930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lvl1pPr algn="ctr" defTabSz="2438400">
              <a:lnSpc>
                <a:spcPct val="80000"/>
              </a:lnSpc>
              <a:spcBef>
                <a:spcPts val="0"/>
              </a:spcBef>
              <a:defRPr spc="-42" sz="4200">
                <a:latin typeface="+mn-lt"/>
                <a:ea typeface="+mn-ea"/>
                <a:cs typeface="+mn-cs"/>
                <a:sym typeface="Canela Bold"/>
              </a:defRPr>
            </a:lvl1pPr>
          </a:lstStyle>
          <a:p>
            <a:pPr/>
            <a:r>
              <a:t>Q &amp; 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Neue"/>
        <a:ea typeface="Helvetica Neue"/>
        <a:cs typeface="Helvetica Neue"/>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Neue"/>
        <a:ea typeface="Helvetica Neue"/>
        <a:cs typeface="Helvetica Neue"/>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36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